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572000" cy="4572000"/>
          </a:xfrm>
          <a:prstGeom prst="ellipse">
            <a:avLst/>
          </a:prstGeom>
          <a:solidFill>
            <a:srgbClr val="2E86C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457200"/>
            <a:ext cx="2743200" cy="2743200"/>
          </a:xfrm>
          <a:prstGeom prst="ellipse">
            <a:avLst/>
          </a:prstGeom>
          <a:solidFill>
            <a:srgbClr val="E8A020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D4"/>
                </a:solidFill>
              </a:rPr>
              <a:t>北京中关村学院 · 产业孵化部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第四届『AI Future』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020"/>
                </a:solidFill>
              </a:rPr>
              <a:t>招生黑客松 · 方案汇报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31546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B8D4"/>
                </a:solidFill>
              </a:rPr>
              <a:t>500人 · 12小时 · 5条赛道 · 输出个人评分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7A94"/>
                </a:solidFill>
              </a:rPr>
              <a:t>2026.05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</a:rPr>
              <a:t>活动定位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77724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8229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在5天直博生夏令营中，通过12小时黑客松，从500名参营学生中识别工程型、交叉型AI博士候选人，输出个人评分（0–100分）交招生组加权使用。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1645920" cy="118872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874520"/>
            <a:ext cx="1645920" cy="640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391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6C1"/>
                </a:solidFill>
              </a:rPr>
              <a:t>500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457200" y="2587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参营直博生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0280" y="1874520"/>
            <a:ext cx="1645920" cy="118872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40280" y="1874520"/>
            <a:ext cx="1645920" cy="640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1" name="Text 9"/>
          <p:cNvSpPr/>
          <p:nvPr/>
        </p:nvSpPr>
        <p:spPr>
          <a:xfrm>
            <a:off x="2240280" y="20391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A5C"/>
                </a:solidFill>
              </a:rPr>
              <a:t>12h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240280" y="2587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极限创造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23360" y="1874520"/>
            <a:ext cx="1645920" cy="118872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23360" y="1874520"/>
            <a:ext cx="1645920" cy="640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20391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6C1"/>
                </a:solidFill>
              </a:rPr>
              <a:t>5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023360" y="2587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竞技赛道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806440" y="1874520"/>
            <a:ext cx="1645920" cy="118872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806440" y="1874520"/>
            <a:ext cx="1645920" cy="640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5806440" y="203911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A3A5C"/>
                </a:solidFill>
              </a:rPr>
              <a:t>8人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5806440" y="2587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每队规模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589520" y="1874520"/>
            <a:ext cx="1554480" cy="118872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89520" y="1874520"/>
            <a:ext cx="1554480" cy="640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3" name="Text 21"/>
          <p:cNvSpPr/>
          <p:nvPr/>
        </p:nvSpPr>
        <p:spPr>
          <a:xfrm>
            <a:off x="7589520" y="203911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86C1"/>
                </a:solidFill>
              </a:rPr>
              <a:t>62队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7589520" y="25877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共计队伍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设计原则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57200" y="3703320"/>
            <a:ext cx="2057400" cy="114300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703320"/>
            <a:ext cx="64008" cy="1143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" y="3822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</a:rPr>
              <a:t>Less Structure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1792" y="41239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不设交付模板，用赛道主题引导，保留创业体验自由度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633472" y="3703320"/>
            <a:ext cx="2057400" cy="114300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633472" y="3703320"/>
            <a:ext cx="64008" cy="11430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2" name="Text 30"/>
          <p:cNvSpPr/>
          <p:nvPr/>
        </p:nvSpPr>
        <p:spPr>
          <a:xfrm>
            <a:off x="2798064" y="3822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</a:rPr>
              <a:t>积极正向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798064" y="41239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选题指向真实社会价值，鼓励让世界更好一点的方向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809744" y="3703320"/>
            <a:ext cx="2057400" cy="114300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9744" y="3703320"/>
            <a:ext cx="64008" cy="114300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6" name="Text 34"/>
          <p:cNvSpPr/>
          <p:nvPr/>
        </p:nvSpPr>
        <p:spPr>
          <a:xfrm>
            <a:off x="4974336" y="3822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</a:rPr>
              <a:t>信号可读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974336" y="41239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协作官全天伴随，排序代替打分，区分度来自机制设计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86016" y="3703320"/>
            <a:ext cx="2057400" cy="114300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986016" y="3703320"/>
            <a:ext cx="64008" cy="114300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40" name="Text 38"/>
          <p:cNvSpPr/>
          <p:nvPr/>
        </p:nvSpPr>
        <p:spPr>
          <a:xfrm>
            <a:off x="7150608" y="3822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</a:rPr>
              <a:t>规模可控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150608" y="412394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制度标准化，数据收集流程化，500人可落地执行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</a:rPr>
              <a:t>分组与赛道分配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4023360" cy="411480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04672"/>
            <a:ext cx="4023360" cy="640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932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6C1"/>
                </a:solidFill>
              </a:rPr>
              <a:t>人员分组方式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371600"/>
            <a:ext cx="1371600" cy="594360"/>
          </a:xfrm>
          <a:prstGeom prst="rect">
            <a:avLst/>
          </a:prstGeom>
          <a:solidFill>
            <a:srgbClr val="2E86C1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3716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500人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参营学生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50592" y="141732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赛前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随机分配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7440" y="1618488"/>
            <a:ext cx="457200" cy="7315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2788920" y="1481328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17520" y="1371600"/>
            <a:ext cx="1188720" cy="5943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137160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62支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8人队伍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1488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赛前统一随机分配，不允许自由组队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随机混合不同学科背景，促进交叉创新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每队指派1名协作官，赛前与队伍见面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• 组队结果提前1天公布（Day 0破冰用）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3657600" cy="100584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703320"/>
            <a:ext cx="54864" cy="100584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4904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C1"/>
                </a:solidFill>
              </a:rPr>
              <a:t>为什么随机不自选？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402336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避免强强组队/弱弱抱团；保证协作官分的跨队可比性；贴纸赛道排名在同质队伍中更公平。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804672"/>
            <a:ext cx="4023360" cy="411480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804672"/>
            <a:ext cx="4023360" cy="640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932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</a:rPr>
              <a:t>赛道分配方式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46320" y="13167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62支队伍 → 5条赛道，每道约12支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691640"/>
            <a:ext cx="35661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691640"/>
            <a:ext cx="54864" cy="10972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17647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C1"/>
                </a:solidFill>
              </a:rPr>
              <a:t>方案A  赛前随机分配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83480" y="204825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各赛道队伍数量均衡，不受选手偏好影响；跨学科分布更可控；缺点：选手可能对赛道不感兴趣。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926080"/>
            <a:ext cx="35661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2926080"/>
            <a:ext cx="54864" cy="1097280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29992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4A"/>
                </a:solidFill>
              </a:rPr>
              <a:t>方案B  赛前自选赛道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328269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选手投入度更高；但热门赛道扎堆，需设上限（每道最多14队）；组委会需控流。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4187952"/>
            <a:ext cx="3566160" cy="56692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418795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⚠  请领导确认：采用方案A还是方案B？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</a:rPr>
              <a:t>五大赛道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AI落地在哪里为轴线，覆盖产业→科研→公共→个人全谱系；选题鼓励改善真实问题，不鼓励纯娱乐/炫技向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2743200" cy="146304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70432"/>
            <a:ext cx="2743200" cy="640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3350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</a:rPr>
              <a:t>T1  AI × 工业现场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71907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工厂 · 农业 · 建筑 · 能源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安全监测 · 设备管理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55848" y="1170432"/>
            <a:ext cx="2743200" cy="146304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55848" y="1170432"/>
            <a:ext cx="2743200" cy="640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0" name="Text 8"/>
          <p:cNvSpPr/>
          <p:nvPr/>
        </p:nvSpPr>
        <p:spPr>
          <a:xfrm>
            <a:off x="3493008" y="13350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</a:rPr>
              <a:t>T2  AI × 一线服务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93008" y="171907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医护 · 餐饮 · 零售 · 快递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家政服务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54496" y="1170432"/>
            <a:ext cx="2743200" cy="146304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54496" y="1170432"/>
            <a:ext cx="2743200" cy="64008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391656" y="13350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</a:rPr>
              <a:t>T3  AI × 公共系统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91656" y="171907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政务 · 医疗体系 · 交通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教育机构运营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01952" y="2770632"/>
            <a:ext cx="2743200" cy="146304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901952" y="2770632"/>
            <a:ext cx="2743200" cy="64008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18" name="Text 16"/>
          <p:cNvSpPr/>
          <p:nvPr/>
        </p:nvSpPr>
        <p:spPr>
          <a:xfrm>
            <a:off x="2039112" y="29352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</a:rPr>
              <a:t>T4  AI × 科学发现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39112" y="331927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实验室工具 · 生物医药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材料研究 · 工程设计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770632"/>
            <a:ext cx="2743200" cy="146304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770632"/>
            <a:ext cx="2743200" cy="640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9352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</a:rPr>
              <a:t>T5  AI × 日常生活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319272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个人学习 · 健康管理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消费 · 社交 · 日常工具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每赛道约12支队伍 | 赛道边界：服务机构/系统侧 → T2/T3；服务个人用户 → T5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</a:rPr>
              <a:t>12小时流程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74980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0  前一天晚上 · 赛前辅导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33856"/>
            <a:ext cx="1280160" cy="25603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19:00–19:20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15214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外部嘉宾分享①（TBD，领导指定）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444752"/>
            <a:ext cx="1280160" cy="25603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447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19:20–19:40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1463040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外部嘉宾分享②（TBD，领导指定）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55648"/>
            <a:ext cx="1280160" cy="25603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55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19:40–20:30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1773936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赛前培训主讲（凌家欣）· 赛道解读 + AI工具推荐 + 选题引导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066544"/>
            <a:ext cx="1280160" cy="25603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0665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20:30–21:00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0" y="2084832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自由提问 + 队伍破冰，8人提前见面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432304"/>
            <a:ext cx="8229600" cy="2926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43230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Day 1  正式比赛日 · 12小时极限创造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816352"/>
            <a:ext cx="1280160" cy="2834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816352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8:30–9:30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28800" y="28346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签到入场 + 开幕宣布规则，协作官与队伍初次见面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54680"/>
            <a:ext cx="1280160" cy="2834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154680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9:30–15:00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828800" y="317296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开发（5.5h）  协作官全程陪同 · 外部导师9:30–14:30在场辅导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493008"/>
            <a:ext cx="1280160" cy="283464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493008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15:00–17:30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351129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自由路演 &amp; 贴纸投票（2.5h）展会式，评委持金/銀/铜贴纸打分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831336"/>
            <a:ext cx="1280160" cy="2834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831336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18:00–18:30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0" y="3849624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贴纸统计 → 每赛道前2名晋级 · 赛道第3名当场颁奖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169664"/>
            <a:ext cx="1280160" cy="283464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69664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18:30–21:00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28800" y="4187952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决赛路演  10支队伍，8分钟展示+3–5分钟评委追问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507992"/>
            <a:ext cx="1280160" cy="283464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507992"/>
            <a:ext cx="12801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21:00–21:30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828800" y="452628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</a:rPr>
              <a:t>颁奖 &amp; 闭幕 + 个人优胜奖宣布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</a:rPr>
              <a:t>如何胜出——从路演到个人总分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749808"/>
            <a:ext cx="2011680" cy="347472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749808"/>
            <a:ext cx="2011680" cy="7315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914400"/>
            <a:ext cx="640080" cy="64008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" y="17099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86C1"/>
                </a:solidFill>
              </a:rPr>
              <a:t>自由路演  贴纸投票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评委手持有限贴纸，自主游走展位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各队主动出击，争取评委停留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0723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贴纸得分 = 金×5 + 银×2 + 铜×1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5112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贴纸总量有限→强迫评委做取舍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350008" y="2441448"/>
            <a:ext cx="228600" cy="914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3" name="Text 11"/>
          <p:cNvSpPr/>
          <p:nvPr/>
        </p:nvSpPr>
        <p:spPr>
          <a:xfrm>
            <a:off x="2340864" y="23042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68880" y="749808"/>
            <a:ext cx="2011680" cy="347472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749808"/>
            <a:ext cx="2011680" cy="7315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6" name="Shape 14"/>
          <p:cNvSpPr/>
          <p:nvPr/>
        </p:nvSpPr>
        <p:spPr>
          <a:xfrm>
            <a:off x="3154680" y="914400"/>
            <a:ext cx="640080" cy="64008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17" name="Text 15"/>
          <p:cNvSpPr/>
          <p:nvPr/>
        </p:nvSpPr>
        <p:spPr>
          <a:xfrm>
            <a:off x="315468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78608" y="17099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A020"/>
                </a:solidFill>
              </a:rPr>
              <a:t>赛道晋级  选出决赛队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06040" y="21945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每赛道贴纸第1–2名 → 进决赛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606040" y="2633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5条赛道共选出 10 支决赛队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06040" y="30723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第3名：赛道优秀奖 + 团队分+8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06040" y="35112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第4–5名：团队分+5/+3（无实物奖）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98848" y="2441448"/>
            <a:ext cx="228600" cy="914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4" name="Text 22"/>
          <p:cNvSpPr/>
          <p:nvPr/>
        </p:nvSpPr>
        <p:spPr>
          <a:xfrm>
            <a:off x="4489704" y="23042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17720" y="749808"/>
            <a:ext cx="2011680" cy="347472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17720" y="749808"/>
            <a:ext cx="2011680" cy="73152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27" name="Shape 25"/>
          <p:cNvSpPr/>
          <p:nvPr/>
        </p:nvSpPr>
        <p:spPr>
          <a:xfrm>
            <a:off x="5303520" y="914400"/>
            <a:ext cx="640080" cy="640080"/>
          </a:xfrm>
          <a:prstGeom prst="ellipse">
            <a:avLst/>
          </a:prstGeom>
          <a:solidFill>
            <a:srgbClr val="7D3C98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27448" y="17099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3C98"/>
                </a:solidFill>
              </a:rPr>
              <a:t>决赛路演  得出排名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54880" y="21945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10队各8分钟展示 + 评委追问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2633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评委独立排名（1–10名），不打分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54880" y="30723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决赛得分：第1名=100，第10名=60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0" y="35112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下限60保证进决赛始终优于未进决赛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647688" y="2441448"/>
            <a:ext cx="228600" cy="9144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35" name="Text 33"/>
          <p:cNvSpPr/>
          <p:nvPr/>
        </p:nvSpPr>
        <p:spPr>
          <a:xfrm>
            <a:off x="6638544" y="23042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AAAAA"/>
                </a:solidFill>
              </a:rPr>
              <a:t>▶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766560" y="749808"/>
            <a:ext cx="2011680" cy="347472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66560" y="749808"/>
            <a:ext cx="2011680" cy="7315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8" name="Shape 36"/>
          <p:cNvSpPr/>
          <p:nvPr/>
        </p:nvSpPr>
        <p:spPr>
          <a:xfrm>
            <a:off x="7452360" y="914400"/>
            <a:ext cx="640080" cy="640080"/>
          </a:xfrm>
          <a:prstGeom prst="ellipse">
            <a:avLst/>
          </a:prstGeom>
          <a:solidFill>
            <a:srgbClr val="1A7A4A"/>
          </a:solidFill>
          <a:ln/>
        </p:spPr>
      </p:sp>
      <p:sp>
        <p:nvSpPr>
          <p:cNvPr id="39" name="Text 37"/>
          <p:cNvSpPr/>
          <p:nvPr/>
        </p:nvSpPr>
        <p:spPr>
          <a:xfrm>
            <a:off x="7452360" y="914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876288" y="170992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A4A"/>
                </a:solidFill>
              </a:rPr>
              <a:t>个人总分  产生区分度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03720" y="219456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总分 = 协作官分×50% + 团队分×50%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903720" y="2633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协作官：全天陪同评估人，见下页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903720" y="307238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队内1–8名排序→差距最大87.5分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903720" y="3511296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833"/>
                </a:solidFill>
              </a:rPr>
              <a:t>→ 500人分布 5–100，标准差约20–25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20040" y="4370832"/>
            <a:ext cx="8503920" cy="502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37083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输出：500人个人总分Excel → 交招生组作为独立维度，与面试等其他环节加权，产生最终录取判断   顶尖5%约88–100 | 中等40%约45–72 | 末尾10%约5–28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</a:rPr>
              <a:t>协作官制度——个人评分的核心抓手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566928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777240"/>
            <a:ext cx="64008" cy="56692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80467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833"/>
                </a:solidFill>
              </a:rPr>
              <a:t>角色定位：协作官（CO）不是裁判，是队伍全天伴侣。1人对1队，全天主动交流，赛后提交8人排序。可信度保障：赛前统一培训+评价维度指引，排序结果赛后汇总不当场公开，与贴纸结果交叉验证。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1572768" cy="265176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1572768" cy="640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8" name="Shape 6"/>
          <p:cNvSpPr/>
          <p:nvPr/>
        </p:nvSpPr>
        <p:spPr>
          <a:xfrm>
            <a:off x="969264" y="1691640"/>
            <a:ext cx="548640" cy="5486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9" name="Text 7"/>
          <p:cNvSpPr/>
          <p:nvPr/>
        </p:nvSpPr>
        <p:spPr>
          <a:xfrm>
            <a:off x="96926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破冰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34086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6C1"/>
                </a:solidFill>
              </a:rPr>
              <a:t>8:30–9:30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670048"/>
            <a:ext cx="13898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记录8位成员基本背景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30552" y="1508760"/>
            <a:ext cx="1572768" cy="265176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130552" y="1508760"/>
            <a:ext cx="1572768" cy="6400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4" name="Shape 12"/>
          <p:cNvSpPr/>
          <p:nvPr/>
        </p:nvSpPr>
        <p:spPr>
          <a:xfrm>
            <a:off x="2642616" y="1691640"/>
            <a:ext cx="548640" cy="548640"/>
          </a:xfrm>
          <a:prstGeom prst="ellipse">
            <a:avLst/>
          </a:prstGeom>
          <a:solidFill>
            <a:srgbClr val="2E86C1"/>
          </a:solidFill>
          <a:ln/>
        </p:spPr>
      </p:sp>
      <p:sp>
        <p:nvSpPr>
          <p:cNvPr id="15" name="Text 13"/>
          <p:cNvSpPr/>
          <p:nvPr/>
        </p:nvSpPr>
        <p:spPr>
          <a:xfrm>
            <a:off x="264261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观察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30552" y="234086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86C1"/>
                </a:solidFill>
              </a:rPr>
              <a:t>9:30–12:00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221992" y="2670048"/>
            <a:ext cx="13898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观察技术贡献/决策风格/主动性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03904" y="1508760"/>
            <a:ext cx="1572768" cy="265176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03904" y="1508760"/>
            <a:ext cx="1572768" cy="640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0" name="Shape 18"/>
          <p:cNvSpPr/>
          <p:nvPr/>
        </p:nvSpPr>
        <p:spPr>
          <a:xfrm>
            <a:off x="4315968" y="1691640"/>
            <a:ext cx="548640" cy="5486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431596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交流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03904" y="234086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12:00–14:30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95344" y="2670048"/>
            <a:ext cx="13898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轮流与每人单独交谈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77256" y="1508760"/>
            <a:ext cx="1572768" cy="265176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77256" y="1508760"/>
            <a:ext cx="1572768" cy="64008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6" name="Shape 24"/>
          <p:cNvSpPr/>
          <p:nvPr/>
        </p:nvSpPr>
        <p:spPr>
          <a:xfrm>
            <a:off x="5989320" y="1691640"/>
            <a:ext cx="548640" cy="548640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59893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路演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77256" y="234086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3A5C"/>
                </a:solidFill>
              </a:rPr>
              <a:t>15:00–17:30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68696" y="2670048"/>
            <a:ext cx="13898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陪同路演，观察表达与对外推介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150608" y="1508760"/>
            <a:ext cx="1572768" cy="265176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150608" y="1508760"/>
            <a:ext cx="1572768" cy="6400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2" name="Shape 30"/>
          <p:cNvSpPr/>
          <p:nvPr/>
        </p:nvSpPr>
        <p:spPr>
          <a:xfrm>
            <a:off x="7662672" y="1691640"/>
            <a:ext cx="548640" cy="54864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3" name="Text 31"/>
          <p:cNvSpPr/>
          <p:nvPr/>
        </p:nvSpPr>
        <p:spPr>
          <a:xfrm>
            <a:off x="7662672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提交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150608" y="2340864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A020"/>
                </a:solidFill>
              </a:rPr>
              <a:t>赛后当晚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242048" y="2670048"/>
            <a:ext cx="13898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提交8人排序+标注重点关注选手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57200" y="4315968"/>
            <a:ext cx="8229600" cy="5029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31596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5C"/>
                </a:solidFill>
              </a:rPr>
              <a:t>排名转分：第1名=100  第2名=87.5  第3名=75  …  第8名=12.5分；队伍系数M（客观结果决定）：进决赛×1.1 | 赛道前50%×1.0 | 后50%×0.9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</a:rPr>
              <a:t>计分体系——区分度从哪里来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658368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7772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个人总分  =  协作官分（C）× 50%  +  团队分（T）× 50%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3931920" cy="224028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00200"/>
            <a:ext cx="64008" cy="224028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6C1"/>
                </a:solidFill>
              </a:rPr>
              <a:t>协作官分 C（个人信号）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48256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• 排名转分：第r名得 (9-r)/8 × 100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• 队伍系数M（客观结果决定）：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   进决赛×1.1  | 前50%×1.0  | 后50%×0.9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• 最终 C = min(100, C_raw × M)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</a:rPr>
              <a:t>→ 队内第1名比第8名高87.5分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600200"/>
            <a:ext cx="3931920" cy="224028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00200"/>
            <a:ext cx="64008" cy="224028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020"/>
                </a:solidFill>
              </a:rPr>
              <a:t>团队分 T（团队信号）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2048256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非决赛：T = 赛道贴纸排名归一化 + 加分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(赛道第3名+8  第4名+5  第5名+3)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</a:rPr>
              <a:t>决赛队：T = 贴纸分×0.4 + 决赛排名分×0.6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</a:rPr>
              <a:t>决赛排名分下限为60，保证进决赛有意义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</a:rPr>
              <a:t>预计分数分布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315968"/>
            <a:ext cx="731520" cy="5029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31596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顶尖 5%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88–100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188720" y="4315968"/>
            <a:ext cx="1645920" cy="502920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3159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优秀 15%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72–88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34640" y="4315968"/>
            <a:ext cx="3291840" cy="502920"/>
          </a:xfrm>
          <a:prstGeom prst="rect">
            <a:avLst/>
          </a:prstGeom>
          <a:solidFill>
            <a:srgbClr val="5DADE2"/>
          </a:solidFill>
          <a:ln/>
        </p:spPr>
      </p:sp>
      <p:sp>
        <p:nvSpPr>
          <p:cNvPr id="19" name="Text 17"/>
          <p:cNvSpPr/>
          <p:nvPr/>
        </p:nvSpPr>
        <p:spPr>
          <a:xfrm>
            <a:off x="2834640" y="4315968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中等 40%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45–72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4315968"/>
            <a:ext cx="1920240" cy="502920"/>
          </a:xfrm>
          <a:prstGeom prst="rect">
            <a:avLst/>
          </a:prstGeom>
          <a:solidFill>
            <a:srgbClr val="AED6F1"/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43159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普通 30%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C2833"/>
                </a:solidFill>
              </a:rPr>
              <a:t>25–50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46720" y="4315968"/>
            <a:ext cx="640080" cy="502920"/>
          </a:xfrm>
          <a:prstGeom prst="rect">
            <a:avLst/>
          </a:prstGeom>
          <a:solidFill>
            <a:srgbClr val="D6EAF8"/>
          </a:solidFill>
          <a:ln/>
        </p:spPr>
      </p:sp>
      <p:sp>
        <p:nvSpPr>
          <p:cNvPr id="23" name="Text 21"/>
          <p:cNvSpPr/>
          <p:nvPr/>
        </p:nvSpPr>
        <p:spPr>
          <a:xfrm>
            <a:off x="8046720" y="431596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</a:rPr>
              <a:t>末尾 10%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C2833"/>
                </a:solidFill>
              </a:rPr>
              <a:t>5–28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57200" y="486460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← 分数区间5–100，预计标准差约20–25分，足够招生组按比例分层使用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</a:rPr>
              <a:t>奖项设置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566928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777240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5C"/>
                </a:solidFill>
              </a:rPr>
              <a:t>共 15 队获奖（24% 覆盖率）进入决赛才算真正获奖；赛道优秀奖作为唯一非决赛出口，不滥发。赛道第4–5名在计分公式中保留加分（+5/+3）用于强化区分度。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5029200" cy="43891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481328"/>
            <a:ext cx="54864" cy="438912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6362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</a:rPr>
              <a:t>🥇 项目优胜奖·冠军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46120" y="1563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决赛第1名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56362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8A020"/>
                </a:solidFill>
              </a:rPr>
              <a:t>1队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975104"/>
            <a:ext cx="50292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1975104"/>
            <a:ext cx="54864" cy="438912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</a:rPr>
              <a:t>🥈 项目优胜奖·亚军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20574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决赛第2名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9E9E"/>
                </a:solidFill>
              </a:rPr>
              <a:t>1队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5029200" cy="43891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468880"/>
            <a:ext cx="54864" cy="438912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55117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</a:rPr>
              <a:t>🥉 项目优胜奖·季军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46120" y="25511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决赛第3名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255117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D7F32"/>
                </a:solidFill>
              </a:rPr>
              <a:t>1队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962656"/>
            <a:ext cx="5029200" cy="4389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2962656"/>
            <a:ext cx="54864" cy="438912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30449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</a:rPr>
              <a:t>   决赛入围奖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30449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决赛第4–10名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3044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E86C1"/>
                </a:solidFill>
              </a:rPr>
              <a:t>7队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456432"/>
            <a:ext cx="5029200" cy="43891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456432"/>
            <a:ext cx="54864" cy="43891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538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</a:rPr>
              <a:t>   赛道优秀奖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46120" y="35387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各赛道贴纸第3名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35387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A7A4A"/>
                </a:solidFill>
              </a:rPr>
              <a:t>5队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</a:rPr>
              <a:t>个人奖项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943600" y="1828800"/>
            <a:ext cx="2743200" cy="2560320"/>
          </a:xfrm>
          <a:prstGeom prst="rect">
            <a:avLst/>
          </a:prstGeom>
          <a:solidFill>
            <a:srgbClr val="F4F7F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943600" y="1828800"/>
            <a:ext cx="64008" cy="2560320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8000" y="2029968"/>
            <a:ext cx="914400" cy="914400"/>
          </a:xfrm>
          <a:prstGeom prst="ellipse">
            <a:avLst/>
          </a:prstGeom>
          <a:solidFill>
            <a:srgbClr val="E8A020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202996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★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6080760" y="3063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2833"/>
                </a:solidFill>
              </a:rPr>
              <a:t>个人优胜奖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80760" y="3429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协作官分全场前10名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80760" y="37307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86C1"/>
                </a:solidFill>
              </a:rPr>
              <a:t>10人（2%）保持稀缺感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080760" y="4059936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队伍未获奖≠个人没价值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个人突出贡献依然被识别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请领导确认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D4"/>
                </a:solidFill>
              </a:rPr>
              <a:t>以下事项需要领导决策，将影响执行落地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64008" cy="56692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298448"/>
            <a:ext cx="822960" cy="20116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984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必须确认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691640" y="1252728"/>
            <a:ext cx="6675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赛前辅导外部嘉宾人选（2位）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91640" y="1517904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4"/>
                </a:solidFill>
              </a:rPr>
              <a:t>建议方向：A 创业者讲执行力 / B AI研究员讲技术判断力，请领导指定人选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1819656"/>
            <a:ext cx="786384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1819656"/>
            <a:ext cx="64008" cy="56692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1929384"/>
            <a:ext cx="822960" cy="20116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19293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必须确认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91640" y="1883664"/>
            <a:ext cx="6675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决赛评委阵容及人数（建议5–7人）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91640" y="2148840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4"/>
                </a:solidFill>
              </a:rPr>
              <a:t>影响金/銀/铜贴纸比例设置，以及决赛资格评委流程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450592"/>
            <a:ext cx="786384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2450592"/>
            <a:ext cx="64008" cy="56692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2560320"/>
            <a:ext cx="822960" cy="201168"/>
          </a:xfrm>
          <a:prstGeom prst="rect">
            <a:avLst/>
          </a:prstGeom>
          <a:solidFill>
            <a:srgbClr val="E8A020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256032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必须确认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91640" y="2514600"/>
            <a:ext cx="6675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个人优胜奖名额确认（当前方案：10人/2%）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91640" y="2779776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4"/>
                </a:solidFill>
              </a:rPr>
              <a:t>需与招生组对齐，确认是否按比例调整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081528"/>
            <a:ext cx="786384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3081528"/>
            <a:ext cx="64008" cy="56692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4" name="Shape 22"/>
          <p:cNvSpPr/>
          <p:nvPr/>
        </p:nvSpPr>
        <p:spPr>
          <a:xfrm>
            <a:off x="777240" y="3191256"/>
            <a:ext cx="822960" cy="20116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191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需要对齐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691640" y="3145536"/>
            <a:ext cx="6675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协作官来源与招募渠道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91640" y="3410712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4"/>
                </a:solidFill>
              </a:rPr>
              <a:t>需约62人；来源：研究员 / 学长学姐 / 合作机构志愿者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712464"/>
            <a:ext cx="786384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3712464"/>
            <a:ext cx="64008" cy="56692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240" y="3822192"/>
            <a:ext cx="822960" cy="201168"/>
          </a:xfrm>
          <a:prstGeom prst="rect">
            <a:avLst/>
          </a:prstGeom>
          <a:solidFill>
            <a:srgbClr val="2E86C1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" y="38221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需要对齐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691640" y="3776472"/>
            <a:ext cx="6675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场地容量确认62组展位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691640" y="4041648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4"/>
                </a:solidFill>
              </a:rPr>
              <a:t>自由路演需足够走道供评委游览，需提前确认场地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4343400"/>
            <a:ext cx="7863840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4343400"/>
            <a:ext cx="64008" cy="5669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Shape 34"/>
          <p:cNvSpPr/>
          <p:nvPr/>
        </p:nvSpPr>
        <p:spPr>
          <a:xfrm>
            <a:off x="777240" y="4453128"/>
            <a:ext cx="822960" cy="20116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4531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待定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691640" y="4407408"/>
            <a:ext cx="6675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各赛道实际队伍数（影响贴纸归一化分母）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691640" y="4672584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D4"/>
                </a:solidFill>
              </a:rPr>
              <a:t>赛前分组完成后确认，已在计分公式中保留参数可调位置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第四届 AI Future 黑客松方案</dc:title>
  <dc:subject>PptxGenJS Presentation</dc:subject>
  <dc:creator>凌家欣</dc:creator>
  <cp:lastModifiedBy>凌家欣</cp:lastModifiedBy>
  <cp:revision>1</cp:revision>
  <dcterms:created xsi:type="dcterms:W3CDTF">2026-05-08T06:58:24Z</dcterms:created>
  <dcterms:modified xsi:type="dcterms:W3CDTF">2026-05-08T06:58:24Z</dcterms:modified>
</cp:coreProperties>
</file>